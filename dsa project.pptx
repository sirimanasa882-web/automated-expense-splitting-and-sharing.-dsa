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261" r:id="rId3"/>
    <p:sldId id="314" r:id="rId4"/>
    <p:sldId id="322" r:id="rId5"/>
    <p:sldId id="323" r:id="rId6"/>
    <p:sldId id="266" r:id="rId7"/>
    <p:sldId id="341" r:id="rId8"/>
    <p:sldId id="342" r:id="rId9"/>
    <p:sldId id="343" r:id="rId10"/>
    <p:sldId id="344" r:id="rId11"/>
    <p:sldId id="345"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73" d="100"/>
          <a:sy n="73" d="100"/>
        </p:scale>
        <p:origin x="72" y="566"/>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Automated expense splitting and sharing</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B.Siri</a:t>
            </a:r>
            <a:r>
              <a:rPr lang="en-US" sz="9600" dirty="0"/>
              <a:t> Manasa</a:t>
            </a:r>
          </a:p>
          <a:p>
            <a:pPr marL="0" indent="0" algn="ctr">
              <a:buNone/>
            </a:pPr>
            <a:r>
              <a:rPr lang="en-US" sz="9600" dirty="0"/>
              <a:t>Student ID: 2520030563</a:t>
            </a:r>
            <a:endParaRPr lang="en-US" sz="2400" dirty="0"/>
          </a:p>
          <a:p>
            <a:pPr marL="0" indent="0" algn="ctr">
              <a:buNone/>
            </a:pPr>
            <a:r>
              <a:rPr lang="en-US" sz="11200" dirty="0"/>
              <a:t>Cluster:1</a:t>
            </a:r>
          </a:p>
          <a:p>
            <a:pPr marL="0" indent="0" algn="ctr">
              <a:buNone/>
            </a:pPr>
            <a:r>
              <a:rPr lang="en-US" sz="11200" dirty="0"/>
              <a:t>Section: fwd-1,dsa-4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Ramakanth sir</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The Automated Expense Splitting and Sharing project is a web-based application designed to simplify the management of shared expenses among groups. When people travel, dine together, or share living expenses, calculating individual contributions manually can be difficult and time-consuming.</a:t>
            </a:r>
          </a:p>
          <a:p>
            <a:r>
              <a:rPr lang="en-US" dirty="0"/>
              <a:t>This project allows users to enter expenses, select participants, and automatically split the cost among them. The application uses web development technologies and basic data structures to store and process expense information efficiently.</a:t>
            </a: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457200" lvl="1" indent="-339725" algn="just"/>
            <a:r>
              <a:rPr lang="en-US" dirty="0"/>
              <a:t>In the existing system, people usually track shared expenses manually using notebooks, calculators, or simple spreadsheets.</a:t>
            </a:r>
          </a:p>
          <a:p>
            <a:pPr marL="457200" lvl="1" indent="-339725" algn="just"/>
            <a:r>
              <a:rPr lang="en-US" dirty="0"/>
              <a:t>Each person must calculate the amount owed by every participant individually.</a:t>
            </a:r>
          </a:p>
          <a:p>
            <a:pPr marL="457200" lvl="1" indent="-339725" algn="just"/>
            <a:r>
              <a:rPr lang="en-US" dirty="0"/>
              <a:t>This method is time-consuming and prone to calculation errors.</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fontScale="70000" lnSpcReduction="20000"/>
          </a:bodyPr>
          <a:lstStyle/>
          <a:p>
            <a:r>
              <a:rPr lang="en-US" dirty="0"/>
              <a:t>Java console-based Automated expense splitting and sharing</a:t>
            </a:r>
          </a:p>
          <a:p>
            <a:r>
              <a:rPr lang="en-US" dirty="0"/>
              <a:t>Allows users to add, display, search, sort, and delete expense records</a:t>
            </a:r>
          </a:p>
          <a:p>
            <a:r>
              <a:rPr lang="en-US" dirty="0"/>
              <a:t>Uses </a:t>
            </a:r>
            <a:r>
              <a:rPr lang="en-US" dirty="0" err="1"/>
              <a:t>ArrayList</a:t>
            </a:r>
            <a:r>
              <a:rPr lang="en-US" dirty="0"/>
              <a:t> to store expense data and participant details. </a:t>
            </a:r>
            <a:r>
              <a:rPr lang="en-US" dirty="0" err="1"/>
              <a:t>ArrayList</a:t>
            </a:r>
            <a:r>
              <a:rPr lang="en-US" dirty="0"/>
              <a:t> can store expense amounts, user names, and transaction records.</a:t>
            </a:r>
          </a:p>
          <a:p>
            <a:r>
              <a:rPr lang="en-US" dirty="0"/>
              <a:t>.Implements Linear Search can be used for searching a participant and a specific expense record.</a:t>
            </a:r>
          </a:p>
          <a:p>
            <a:r>
              <a:rPr lang="en-US" dirty="0"/>
              <a:t>Uses Bubble sort to arrange expenses and sorting expenses from highest to lowest.</a:t>
            </a:r>
          </a:p>
          <a:p>
            <a:r>
              <a:rPr lang="en-US" dirty="0"/>
              <a:t>Uses Stack to undo the last expense entry</a:t>
            </a:r>
          </a:p>
          <a:p>
            <a:r>
              <a:rPr lang="en-US" dirty="0"/>
              <a:t>Uses Queue to process expenses in order and entered processed first(FIFO)</a:t>
            </a:r>
          </a:p>
          <a:p>
            <a:r>
              <a:rPr lang="en-US" dirty="0"/>
              <a:t>Uses HashMap to store and calculate each persons share.</a:t>
            </a:r>
          </a:p>
          <a:p>
            <a:r>
              <a:rPr lang="en-US" dirty="0"/>
              <a:t>Provides a faster and more organized way to manage shared expenses</a:t>
            </a:r>
          </a:p>
          <a:p>
            <a:r>
              <a:rPr lang="en-US" dirty="0"/>
              <a:t>Reduces manual calculation errors and improves expense tracking.</a:t>
            </a:r>
          </a:p>
          <a:p>
            <a:r>
              <a:rPr lang="en-US" dirty="0"/>
              <a:t>Helps understand the practical use of  Data Structures and Algorithms</a:t>
            </a:r>
          </a:p>
          <a:p>
            <a:endParaRPr lang="en-US" dirty="0"/>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a:bodyPr>
          <a:lstStyle/>
          <a:p>
            <a:r>
              <a:rPr lang="en-US" b="1" dirty="0"/>
              <a:t>System architecture</a:t>
            </a:r>
            <a:r>
              <a:rPr lang="en-US" dirty="0"/>
              <a:t> refers to the overall structure of a software application that shows how different components interact with each other to perform the required tasks.</a:t>
            </a:r>
          </a:p>
          <a:p>
            <a:r>
              <a:rPr lang="en-US" dirty="0"/>
              <a:t>Input: user enters details(date, number of persons)</a:t>
            </a:r>
          </a:p>
          <a:p>
            <a:r>
              <a:rPr lang="en-US" dirty="0"/>
              <a:t>Data storage: stored using </a:t>
            </a:r>
            <a:r>
              <a:rPr lang="en-US" dirty="0" err="1"/>
              <a:t>arraylist</a:t>
            </a:r>
            <a:endParaRPr lang="en-US" dirty="0"/>
          </a:p>
          <a:p>
            <a:r>
              <a:rPr lang="en-US" dirty="0"/>
              <a:t>Processing: operations like add, sort, delete, search, display</a:t>
            </a:r>
          </a:p>
          <a:p>
            <a:r>
              <a:rPr lang="en-US" dirty="0"/>
              <a:t>Algorithms: uses linear search and bubble sort</a:t>
            </a:r>
          </a:p>
          <a:p>
            <a:r>
              <a:rPr lang="en-US" dirty="0"/>
              <a:t>Data structures: uses stack, queue, hash map for efficient handling</a:t>
            </a:r>
          </a:p>
          <a:p>
            <a:r>
              <a:rPr lang="en-US" dirty="0"/>
              <a:t>Output: displayed on the screen</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838199" y="1334814"/>
            <a:ext cx="10723179" cy="4842149"/>
          </a:xfrm>
        </p:spPr>
        <p:txBody>
          <a:bodyPr>
            <a:normAutofit fontScale="25000" lnSpcReduction="20000"/>
          </a:bodyPr>
          <a:lstStyle/>
          <a:p>
            <a:r>
              <a:rPr lang="en-US" sz="4800" dirty="0"/>
              <a:t>. User Registration Module</a:t>
            </a:r>
          </a:p>
          <a:p>
            <a:r>
              <a:rPr lang="en-US" sz="4800" dirty="0"/>
              <a:t>Allows new users to create an account.</a:t>
            </a:r>
          </a:p>
          <a:p>
            <a:r>
              <a:rPr lang="en-US" sz="4800" dirty="0"/>
              <a:t>Stores user information securely.</a:t>
            </a:r>
          </a:p>
          <a:p>
            <a:r>
              <a:rPr lang="en-US" sz="4800" dirty="0"/>
              <a:t>2. Login Module</a:t>
            </a:r>
          </a:p>
          <a:p>
            <a:r>
              <a:rPr lang="en-US" sz="4800" dirty="0"/>
              <a:t>Users can log in with username and password.</a:t>
            </a:r>
          </a:p>
          <a:p>
            <a:r>
              <a:rPr lang="en-US" sz="4800" dirty="0"/>
              <a:t>Ensures secure access to the application.</a:t>
            </a:r>
          </a:p>
          <a:p>
            <a:r>
              <a:rPr lang="en-US" sz="4800" dirty="0"/>
              <a:t>3. Expense Entry Module</a:t>
            </a:r>
          </a:p>
          <a:p>
            <a:r>
              <a:rPr lang="en-US" sz="4800" dirty="0"/>
              <a:t>Users can add new expenses.</a:t>
            </a:r>
          </a:p>
          <a:p>
            <a:r>
              <a:rPr lang="en-US" sz="4800" dirty="0"/>
              <a:t>Enter details like:</a:t>
            </a:r>
          </a:p>
          <a:p>
            <a:pPr lvl="1"/>
            <a:r>
              <a:rPr lang="en-US" sz="4800" dirty="0"/>
              <a:t>Amount</a:t>
            </a:r>
          </a:p>
          <a:p>
            <a:pPr lvl="1"/>
            <a:r>
              <a:rPr lang="en-US" sz="4800" dirty="0"/>
              <a:t>Description</a:t>
            </a:r>
          </a:p>
          <a:p>
            <a:pPr lvl="1"/>
            <a:r>
              <a:rPr lang="en-US" sz="4800" dirty="0"/>
              <a:t>Participants</a:t>
            </a:r>
          </a:p>
          <a:p>
            <a:r>
              <a:rPr lang="en-US" sz="4800" dirty="0"/>
              <a:t>4. Expense Splitting Module</a:t>
            </a:r>
          </a:p>
          <a:p>
            <a:r>
              <a:rPr lang="en-US" sz="4800" dirty="0"/>
              <a:t>Automatically divides the total amount among members.</a:t>
            </a:r>
          </a:p>
          <a:p>
            <a:r>
              <a:rPr lang="en-US" sz="4800" dirty="0"/>
              <a:t>Shows each person’s share clearly.</a:t>
            </a:r>
          </a:p>
          <a:p>
            <a:r>
              <a:rPr lang="en-US" sz="4800" dirty="0"/>
              <a:t>5. Balance Tracking Module</a:t>
            </a:r>
          </a:p>
          <a:p>
            <a:r>
              <a:rPr lang="en-US" sz="4800" dirty="0"/>
              <a:t>Keeps track of who owes money and who should receive money.</a:t>
            </a:r>
          </a:p>
          <a:p>
            <a:r>
              <a:rPr lang="en-US" sz="4800" dirty="0"/>
              <a:t>Displays pending balances.</a:t>
            </a:r>
          </a:p>
          <a:p>
            <a:r>
              <a:rPr lang="en-US" sz="4800" dirty="0"/>
              <a:t>6. Settlement Module</a:t>
            </a:r>
          </a:p>
          <a:p>
            <a:r>
              <a:rPr lang="en-US" sz="4800" dirty="0"/>
              <a:t>Allows users to mark payments as settled.</a:t>
            </a:r>
          </a:p>
          <a:p>
            <a:r>
              <a:rPr lang="en-US" sz="4800" dirty="0"/>
              <a:t>Updates the balance status.</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normAutofit/>
          </a:bodyPr>
          <a:lstStyle/>
          <a:p>
            <a:pPr algn="ctr"/>
            <a:r>
              <a:rPr lang="en-US" sz="5400"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B741D2CD-2629-83C6-36C5-33AAF9966B3D}"/>
              </a:ext>
            </a:extLst>
          </p:cNvPr>
          <p:cNvSpPr>
            <a:spLocks noGrp="1" noChangeArrowheads="1"/>
          </p:cNvSpPr>
          <p:nvPr>
            <p:ph idx="1"/>
          </p:nvPr>
        </p:nvSpPr>
        <p:spPr bwMode="auto">
          <a:xfrm>
            <a:off x="195130" y="2375889"/>
            <a:ext cx="1214415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develop a web-based application</a:t>
            </a:r>
            <a:r>
              <a:rPr kumimoji="0" lang="en-US" altLang="en-US" sz="1400" b="0" i="0" u="none" strike="noStrike" cap="none" normalizeH="0" baseline="0" dirty="0">
                <a:ln>
                  <a:noFill/>
                </a:ln>
                <a:solidFill>
                  <a:schemeClr val="tx1"/>
                </a:solidFill>
                <a:effectLst/>
                <a:latin typeface="Arial" panose="020B0604020202020204" pitchFamily="34" charset="0"/>
              </a:rPr>
              <a:t> that helps users easily split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simplify expense calculation</a:t>
            </a:r>
            <a:r>
              <a:rPr kumimoji="0" lang="en-US" altLang="en-US" sz="1400" b="0" i="0" u="none" strike="noStrike" cap="none" normalizeH="0" baseline="0" dirty="0">
                <a:ln>
                  <a:noFill/>
                </a:ln>
                <a:solidFill>
                  <a:schemeClr val="tx1"/>
                </a:solidFill>
                <a:effectLst/>
                <a:latin typeface="Arial" panose="020B0604020202020204" pitchFamily="34" charset="0"/>
              </a:rPr>
              <a:t> by automatically dividing the total bill amount, including GST or tax, among the involved persons.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provide a user-friendly interface</a:t>
            </a:r>
            <a:r>
              <a:rPr kumimoji="0" lang="en-US" altLang="en-US" sz="1400" b="0" i="0" u="none" strike="noStrike" cap="none" normalizeH="0" baseline="0" dirty="0">
                <a:ln>
                  <a:noFill/>
                </a:ln>
                <a:solidFill>
                  <a:schemeClr val="tx1"/>
                </a:solidFill>
                <a:effectLst/>
                <a:latin typeface="Arial" panose="020B0604020202020204" pitchFamily="34" charset="0"/>
              </a:rPr>
              <a:t> where users can enter expense details such as category, date, bill amount, and payer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maintain a record of previous transactions</a:t>
            </a:r>
            <a:r>
              <a:rPr kumimoji="0" lang="en-US" altLang="en-US" sz="1400" b="0" i="0" u="none" strike="noStrike" cap="none" normalizeH="0" baseline="0" dirty="0">
                <a:ln>
                  <a:noFill/>
                </a:ln>
                <a:solidFill>
                  <a:schemeClr val="tx1"/>
                </a:solidFill>
                <a:effectLst/>
                <a:latin typeface="Arial" panose="020B0604020202020204" pitchFamily="34" charset="0"/>
              </a:rPr>
              <a:t> so that users can view, edit, or delete past expenses when required.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automatically calculate individual shares</a:t>
            </a:r>
            <a:r>
              <a:rPr kumimoji="0" lang="en-US" altLang="en-US" sz="1400" b="0" i="0" u="none" strike="noStrike" cap="none" normalizeH="0" baseline="0" dirty="0">
                <a:ln>
                  <a:noFill/>
                </a:ln>
                <a:solidFill>
                  <a:schemeClr val="tx1"/>
                </a:solidFill>
                <a:effectLst/>
                <a:latin typeface="Arial" panose="020B0604020202020204" pitchFamily="34" charset="0"/>
              </a:rPr>
              <a:t> for each participant and display the payable amount clearly.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store expense data securely using Local Storage</a:t>
            </a:r>
            <a:r>
              <a:rPr kumimoji="0" lang="en-US" altLang="en-US" sz="1400" b="0" i="0" u="none" strike="noStrike" cap="none" normalizeH="0" baseline="0" dirty="0">
                <a:ln>
                  <a:noFill/>
                </a:ln>
                <a:solidFill>
                  <a:schemeClr val="tx1"/>
                </a:solidFill>
                <a:effectLst/>
                <a:latin typeface="Arial" panose="020B0604020202020204" pitchFamily="34" charset="0"/>
              </a:rPr>
              <a:t>, allowing the information to remain available even after refreshing or reopening the web page.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generate a monthly expense summary</a:t>
            </a:r>
            <a:r>
              <a:rPr kumimoji="0" lang="en-US" altLang="en-US" sz="1400" b="0" i="0" u="none" strike="noStrike" cap="none" normalizeH="0" baseline="0" dirty="0">
                <a:ln>
                  <a:noFill/>
                </a:ln>
                <a:solidFill>
                  <a:schemeClr val="tx1"/>
                </a:solidFill>
                <a:effectLst/>
                <a:latin typeface="Arial" panose="020B0604020202020204" pitchFamily="34" charset="0"/>
              </a:rPr>
              <a:t> that helps users track their total spending over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To demonstrate the application of HTML, CSS, and JavaScript concepts</a:t>
            </a:r>
            <a:r>
              <a:rPr kumimoji="0" lang="en-US" altLang="en-US" sz="1400" b="0" i="0" u="none" strike="noStrike" cap="none" normalizeH="0" baseline="0" dirty="0">
                <a:ln>
                  <a:noFill/>
                </a:ln>
                <a:solidFill>
                  <a:schemeClr val="tx1"/>
                </a:solidFill>
                <a:effectLst/>
                <a:latin typeface="Arial" panose="020B0604020202020204" pitchFamily="34" charset="0"/>
              </a:rPr>
              <a:t> such as forms, responsive layouts, DOM manipulation, and data storage.</a:t>
            </a:r>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pPr marL="971550" lvl="1" indent="-514350">
              <a:buFont typeface="+mj-lt"/>
              <a:buAutoNum type="arabicPeriod"/>
            </a:pPr>
            <a:r>
              <a:rPr lang="en-IN" dirty="0"/>
              <a:t>C0 1:  Apply basic data structures and abstract data typed(ADT) to organize         and manage data efficiently.</a:t>
            </a:r>
          </a:p>
          <a:p>
            <a:pPr marL="971550" lvl="1" indent="-514350">
              <a:buFont typeface="+mj-lt"/>
              <a:buAutoNum type="arabicPeriod"/>
            </a:pPr>
            <a:r>
              <a:rPr lang="en-IN" dirty="0"/>
              <a:t>CO 2:  Implement searching algorithms such as linear search to find specific data in the system</a:t>
            </a:r>
          </a:p>
          <a:p>
            <a:pPr marL="971550" lvl="1" indent="-514350">
              <a:buFont typeface="+mj-lt"/>
              <a:buAutoNum type="arabicPeriod"/>
            </a:pPr>
            <a:r>
              <a:rPr lang="en-IN" dirty="0"/>
              <a:t>CO3:  Use sorting algorithms to arrange data in an organized order for easy access and readability</a:t>
            </a:r>
          </a:p>
          <a:p>
            <a:pPr marL="971550" lvl="1" indent="-514350">
              <a:buFont typeface="+mj-lt"/>
              <a:buAutoNum type="arabicPeriod"/>
            </a:pPr>
            <a:r>
              <a:rPr lang="en-IN" dirty="0"/>
              <a:t>C04:   Utilize list ADT or linked list concepts for sorting and managing dynamic data.</a:t>
            </a:r>
          </a:p>
          <a:p>
            <a:pPr marL="971550" lvl="1" indent="-514350">
              <a:buFont typeface="+mj-lt"/>
              <a:buAutoNum type="arabicPeriod"/>
            </a:pPr>
            <a:r>
              <a:rPr lang="en-IN" dirty="0"/>
              <a:t>C05:   Demonstrate understanding of stack and queue operations for handling data processing tasks.</a:t>
            </a:r>
          </a:p>
          <a:p>
            <a:pPr marL="971550" lvl="1" indent="-514350">
              <a:buFont typeface="+mj-lt"/>
              <a:buAutoNum type="arabicPeriod"/>
            </a:pPr>
            <a:endParaRPr lang="en-IN" dirty="0"/>
          </a:p>
          <a:p>
            <a:pPr marL="971550" lvl="1" indent="-514350">
              <a:buFont typeface="+mj-lt"/>
              <a:buAutoNum type="arabicPeriod"/>
            </a:pPr>
            <a:endParaRPr lang="en-IN" dirty="0"/>
          </a:p>
          <a:p>
            <a:pPr marL="971550" lvl="1" indent="-514350">
              <a:buFont typeface="+mj-lt"/>
              <a:buAutoNum type="arabicPeriod"/>
            </a:pPr>
            <a:endParaRPr lang="en-IN"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3682794" y="104284"/>
            <a:ext cx="7671005" cy="586378"/>
          </a:xfrm>
        </p:spPr>
        <p:txBody>
          <a:bodyPr>
            <a:normAutofit fontScale="90000"/>
          </a:bodyPr>
          <a:lstStyle/>
          <a:p>
            <a:r>
              <a:rPr lang="en-US" dirty="0"/>
              <a:t>Screenshots for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11" name="Picture 10">
            <a:extLst>
              <a:ext uri="{FF2B5EF4-FFF2-40B4-BE49-F238E27FC236}">
                <a16:creationId xmlns:a16="http://schemas.microsoft.com/office/drawing/2014/main" id="{167880C0-1E56-9849-8A0B-002DE600EF49}"/>
              </a:ext>
            </a:extLst>
          </p:cNvPr>
          <p:cNvPicPr>
            <a:picLocks noChangeAspect="1"/>
          </p:cNvPicPr>
          <p:nvPr/>
        </p:nvPicPr>
        <p:blipFill>
          <a:blip r:embed="rId2"/>
          <a:stretch>
            <a:fillRect/>
          </a:stretch>
        </p:blipFill>
        <p:spPr>
          <a:xfrm>
            <a:off x="102475" y="896723"/>
            <a:ext cx="2962688" cy="1234453"/>
          </a:xfrm>
          <a:prstGeom prst="rect">
            <a:avLst/>
          </a:prstGeom>
        </p:spPr>
      </p:pic>
      <p:pic>
        <p:nvPicPr>
          <p:cNvPr id="15" name="Picture 14">
            <a:extLst>
              <a:ext uri="{FF2B5EF4-FFF2-40B4-BE49-F238E27FC236}">
                <a16:creationId xmlns:a16="http://schemas.microsoft.com/office/drawing/2014/main" id="{E374BF16-DAD7-C013-4E98-D6DA30769D79}"/>
              </a:ext>
            </a:extLst>
          </p:cNvPr>
          <p:cNvPicPr>
            <a:picLocks noChangeAspect="1"/>
          </p:cNvPicPr>
          <p:nvPr/>
        </p:nvPicPr>
        <p:blipFill>
          <a:blip r:embed="rId3"/>
          <a:stretch>
            <a:fillRect/>
          </a:stretch>
        </p:blipFill>
        <p:spPr>
          <a:xfrm>
            <a:off x="3682794" y="851048"/>
            <a:ext cx="3147402" cy="1363206"/>
          </a:xfrm>
          <a:prstGeom prst="rect">
            <a:avLst/>
          </a:prstGeom>
        </p:spPr>
      </p:pic>
      <p:pic>
        <p:nvPicPr>
          <p:cNvPr id="21" name="Picture 20">
            <a:extLst>
              <a:ext uri="{FF2B5EF4-FFF2-40B4-BE49-F238E27FC236}">
                <a16:creationId xmlns:a16="http://schemas.microsoft.com/office/drawing/2014/main" id="{CA0DC671-7E75-EC4A-D7BB-3905CB2824D0}"/>
              </a:ext>
            </a:extLst>
          </p:cNvPr>
          <p:cNvPicPr>
            <a:picLocks noChangeAspect="1"/>
          </p:cNvPicPr>
          <p:nvPr/>
        </p:nvPicPr>
        <p:blipFill>
          <a:blip r:embed="rId4"/>
          <a:stretch>
            <a:fillRect/>
          </a:stretch>
        </p:blipFill>
        <p:spPr>
          <a:xfrm>
            <a:off x="7246901" y="896723"/>
            <a:ext cx="1960537" cy="1317531"/>
          </a:xfrm>
          <a:prstGeom prst="rect">
            <a:avLst/>
          </a:prstGeom>
        </p:spPr>
      </p:pic>
      <p:pic>
        <p:nvPicPr>
          <p:cNvPr id="23" name="Picture 22">
            <a:extLst>
              <a:ext uri="{FF2B5EF4-FFF2-40B4-BE49-F238E27FC236}">
                <a16:creationId xmlns:a16="http://schemas.microsoft.com/office/drawing/2014/main" id="{AB59790D-4D9D-15BD-5A05-8DE1322858E2}"/>
              </a:ext>
            </a:extLst>
          </p:cNvPr>
          <p:cNvPicPr>
            <a:picLocks noChangeAspect="1"/>
          </p:cNvPicPr>
          <p:nvPr/>
        </p:nvPicPr>
        <p:blipFill>
          <a:blip r:embed="rId5"/>
          <a:stretch>
            <a:fillRect/>
          </a:stretch>
        </p:blipFill>
        <p:spPr>
          <a:xfrm>
            <a:off x="9740594" y="919673"/>
            <a:ext cx="2348931" cy="1294581"/>
          </a:xfrm>
          <a:prstGeom prst="rect">
            <a:avLst/>
          </a:prstGeom>
        </p:spPr>
      </p:pic>
      <p:pic>
        <p:nvPicPr>
          <p:cNvPr id="25" name="Picture 24">
            <a:extLst>
              <a:ext uri="{FF2B5EF4-FFF2-40B4-BE49-F238E27FC236}">
                <a16:creationId xmlns:a16="http://schemas.microsoft.com/office/drawing/2014/main" id="{AC827623-31B7-E0C8-F373-D40E9B9C072F}"/>
              </a:ext>
            </a:extLst>
          </p:cNvPr>
          <p:cNvPicPr>
            <a:picLocks noChangeAspect="1"/>
          </p:cNvPicPr>
          <p:nvPr/>
        </p:nvPicPr>
        <p:blipFill>
          <a:blip r:embed="rId6"/>
          <a:stretch>
            <a:fillRect/>
          </a:stretch>
        </p:blipFill>
        <p:spPr>
          <a:xfrm>
            <a:off x="443447" y="2529353"/>
            <a:ext cx="2686425" cy="781159"/>
          </a:xfrm>
          <a:prstGeom prst="rect">
            <a:avLst/>
          </a:prstGeom>
        </p:spPr>
      </p:pic>
      <p:cxnSp>
        <p:nvCxnSpPr>
          <p:cNvPr id="27" name="Straight Arrow Connector 26">
            <a:extLst>
              <a:ext uri="{FF2B5EF4-FFF2-40B4-BE49-F238E27FC236}">
                <a16:creationId xmlns:a16="http://schemas.microsoft.com/office/drawing/2014/main" id="{50AB6829-D70E-15AB-93FA-81C8EFE4706B}"/>
              </a:ext>
            </a:extLst>
          </p:cNvPr>
          <p:cNvCxnSpPr>
            <a:cxnSpLocks/>
          </p:cNvCxnSpPr>
          <p:nvPr/>
        </p:nvCxnSpPr>
        <p:spPr>
          <a:xfrm>
            <a:off x="3339121" y="1389279"/>
            <a:ext cx="237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5210865-F095-35B8-2AD5-B7D2BF3615D6}"/>
              </a:ext>
            </a:extLst>
          </p:cNvPr>
          <p:cNvCxnSpPr>
            <a:cxnSpLocks/>
          </p:cNvCxnSpPr>
          <p:nvPr/>
        </p:nvCxnSpPr>
        <p:spPr>
          <a:xfrm flipV="1">
            <a:off x="6921071" y="1509636"/>
            <a:ext cx="268032" cy="12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D5E75DD-E0E0-14B6-66FA-200EB0CD2924}"/>
              </a:ext>
            </a:extLst>
          </p:cNvPr>
          <p:cNvCxnSpPr>
            <a:cxnSpLocks/>
          </p:cNvCxnSpPr>
          <p:nvPr/>
        </p:nvCxnSpPr>
        <p:spPr>
          <a:xfrm>
            <a:off x="9286971" y="1488572"/>
            <a:ext cx="3089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823AE6C-A0D5-F537-3E82-51B539597212}"/>
              </a:ext>
            </a:extLst>
          </p:cNvPr>
          <p:cNvCxnSpPr>
            <a:cxnSpLocks/>
          </p:cNvCxnSpPr>
          <p:nvPr/>
        </p:nvCxnSpPr>
        <p:spPr>
          <a:xfrm>
            <a:off x="47296" y="2795752"/>
            <a:ext cx="346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427DEC6-95D6-8B00-7AAC-E9811C18CA8E}"/>
              </a:ext>
            </a:extLst>
          </p:cNvPr>
          <p:cNvCxnSpPr>
            <a:cxnSpLocks/>
          </p:cNvCxnSpPr>
          <p:nvPr/>
        </p:nvCxnSpPr>
        <p:spPr>
          <a:xfrm>
            <a:off x="5902368" y="4556356"/>
            <a:ext cx="353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412791F-2D53-6007-BC8D-69BFAE6E5FB8}"/>
              </a:ext>
            </a:extLst>
          </p:cNvPr>
          <p:cNvCxnSpPr>
            <a:cxnSpLocks/>
          </p:cNvCxnSpPr>
          <p:nvPr/>
        </p:nvCxnSpPr>
        <p:spPr>
          <a:xfrm>
            <a:off x="3251573" y="2861521"/>
            <a:ext cx="2375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7C4B166-185B-ADAC-170E-88B5CF13CC90}"/>
              </a:ext>
            </a:extLst>
          </p:cNvPr>
          <p:cNvCxnSpPr>
            <a:cxnSpLocks/>
          </p:cNvCxnSpPr>
          <p:nvPr/>
        </p:nvCxnSpPr>
        <p:spPr>
          <a:xfrm flipV="1">
            <a:off x="9134519" y="2903191"/>
            <a:ext cx="275408" cy="10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6A661D6-E430-4EA1-B670-4BCCDE169D76}"/>
              </a:ext>
            </a:extLst>
          </p:cNvPr>
          <p:cNvCxnSpPr>
            <a:cxnSpLocks/>
          </p:cNvCxnSpPr>
          <p:nvPr/>
        </p:nvCxnSpPr>
        <p:spPr>
          <a:xfrm>
            <a:off x="6449976" y="2913702"/>
            <a:ext cx="359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0012D5B-4577-BF49-442C-905427E24CBF}"/>
              </a:ext>
            </a:extLst>
          </p:cNvPr>
          <p:cNvCxnSpPr>
            <a:cxnSpLocks/>
          </p:cNvCxnSpPr>
          <p:nvPr/>
        </p:nvCxnSpPr>
        <p:spPr>
          <a:xfrm>
            <a:off x="68317" y="4487918"/>
            <a:ext cx="152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F0153CD-C274-C1F3-9451-151065271D94}"/>
              </a:ext>
            </a:extLst>
          </p:cNvPr>
          <p:cNvCxnSpPr>
            <a:cxnSpLocks/>
          </p:cNvCxnSpPr>
          <p:nvPr/>
        </p:nvCxnSpPr>
        <p:spPr>
          <a:xfrm>
            <a:off x="2762604" y="4446699"/>
            <a:ext cx="1745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6" name="Picture 65">
            <a:extLst>
              <a:ext uri="{FF2B5EF4-FFF2-40B4-BE49-F238E27FC236}">
                <a16:creationId xmlns:a16="http://schemas.microsoft.com/office/drawing/2014/main" id="{5B528A3B-E9E1-28F2-70A8-C2B4E8341570}"/>
              </a:ext>
            </a:extLst>
          </p:cNvPr>
          <p:cNvPicPr>
            <a:picLocks noChangeAspect="1"/>
          </p:cNvPicPr>
          <p:nvPr/>
        </p:nvPicPr>
        <p:blipFill>
          <a:blip r:embed="rId7"/>
          <a:stretch>
            <a:fillRect/>
          </a:stretch>
        </p:blipFill>
        <p:spPr>
          <a:xfrm>
            <a:off x="3682794" y="2459581"/>
            <a:ext cx="2573550" cy="1434556"/>
          </a:xfrm>
          <a:prstGeom prst="rect">
            <a:avLst/>
          </a:prstGeom>
        </p:spPr>
      </p:pic>
      <p:pic>
        <p:nvPicPr>
          <p:cNvPr id="69" name="Picture 68">
            <a:extLst>
              <a:ext uri="{FF2B5EF4-FFF2-40B4-BE49-F238E27FC236}">
                <a16:creationId xmlns:a16="http://schemas.microsoft.com/office/drawing/2014/main" id="{86D96313-94A9-7D16-C53C-6EF64CB8C923}"/>
              </a:ext>
            </a:extLst>
          </p:cNvPr>
          <p:cNvPicPr>
            <a:picLocks noChangeAspect="1"/>
          </p:cNvPicPr>
          <p:nvPr/>
        </p:nvPicPr>
        <p:blipFill>
          <a:blip r:embed="rId8"/>
          <a:stretch>
            <a:fillRect/>
          </a:stretch>
        </p:blipFill>
        <p:spPr>
          <a:xfrm>
            <a:off x="6921071" y="2641559"/>
            <a:ext cx="2101643" cy="705157"/>
          </a:xfrm>
          <a:prstGeom prst="rect">
            <a:avLst/>
          </a:prstGeom>
        </p:spPr>
      </p:pic>
      <p:pic>
        <p:nvPicPr>
          <p:cNvPr id="72" name="Picture 71">
            <a:extLst>
              <a:ext uri="{FF2B5EF4-FFF2-40B4-BE49-F238E27FC236}">
                <a16:creationId xmlns:a16="http://schemas.microsoft.com/office/drawing/2014/main" id="{7F0C68DB-8CED-C475-837D-86E69EBD3E8E}"/>
              </a:ext>
            </a:extLst>
          </p:cNvPr>
          <p:cNvPicPr>
            <a:picLocks noChangeAspect="1"/>
          </p:cNvPicPr>
          <p:nvPr/>
        </p:nvPicPr>
        <p:blipFill>
          <a:blip r:embed="rId9"/>
          <a:stretch>
            <a:fillRect/>
          </a:stretch>
        </p:blipFill>
        <p:spPr>
          <a:xfrm>
            <a:off x="9512788" y="2529353"/>
            <a:ext cx="2269924" cy="1090578"/>
          </a:xfrm>
          <a:prstGeom prst="rect">
            <a:avLst/>
          </a:prstGeom>
        </p:spPr>
      </p:pic>
      <p:pic>
        <p:nvPicPr>
          <p:cNvPr id="76" name="Picture 75">
            <a:extLst>
              <a:ext uri="{FF2B5EF4-FFF2-40B4-BE49-F238E27FC236}">
                <a16:creationId xmlns:a16="http://schemas.microsoft.com/office/drawing/2014/main" id="{412F3D79-FB7D-5BF0-F945-B9013C9E7EBD}"/>
              </a:ext>
            </a:extLst>
          </p:cNvPr>
          <p:cNvPicPr>
            <a:picLocks noChangeAspect="1"/>
          </p:cNvPicPr>
          <p:nvPr/>
        </p:nvPicPr>
        <p:blipFill>
          <a:blip r:embed="rId10"/>
          <a:stretch>
            <a:fillRect/>
          </a:stretch>
        </p:blipFill>
        <p:spPr>
          <a:xfrm>
            <a:off x="312633" y="4062248"/>
            <a:ext cx="2295330" cy="1257115"/>
          </a:xfrm>
          <a:prstGeom prst="rect">
            <a:avLst/>
          </a:prstGeom>
        </p:spPr>
      </p:pic>
      <p:pic>
        <p:nvPicPr>
          <p:cNvPr id="81" name="Picture 80">
            <a:extLst>
              <a:ext uri="{FF2B5EF4-FFF2-40B4-BE49-F238E27FC236}">
                <a16:creationId xmlns:a16="http://schemas.microsoft.com/office/drawing/2014/main" id="{E64F5F64-EB4A-00A0-3B91-590890BD858A}"/>
              </a:ext>
            </a:extLst>
          </p:cNvPr>
          <p:cNvPicPr>
            <a:picLocks noChangeAspect="1"/>
          </p:cNvPicPr>
          <p:nvPr/>
        </p:nvPicPr>
        <p:blipFill>
          <a:blip r:embed="rId11"/>
          <a:stretch>
            <a:fillRect/>
          </a:stretch>
        </p:blipFill>
        <p:spPr>
          <a:xfrm>
            <a:off x="3129872" y="4210528"/>
            <a:ext cx="2572109" cy="876422"/>
          </a:xfrm>
          <a:prstGeom prst="rect">
            <a:avLst/>
          </a:prstGeom>
        </p:spPr>
      </p:pic>
      <p:pic>
        <p:nvPicPr>
          <p:cNvPr id="84" name="Picture 83">
            <a:extLst>
              <a:ext uri="{FF2B5EF4-FFF2-40B4-BE49-F238E27FC236}">
                <a16:creationId xmlns:a16="http://schemas.microsoft.com/office/drawing/2014/main" id="{7E3068D2-AECD-A0EE-4C20-F5D6784E9787}"/>
              </a:ext>
            </a:extLst>
          </p:cNvPr>
          <p:cNvPicPr>
            <a:picLocks noChangeAspect="1"/>
          </p:cNvPicPr>
          <p:nvPr/>
        </p:nvPicPr>
        <p:blipFill>
          <a:blip r:embed="rId12"/>
          <a:stretch>
            <a:fillRect/>
          </a:stretch>
        </p:blipFill>
        <p:spPr>
          <a:xfrm>
            <a:off x="6572225" y="3702983"/>
            <a:ext cx="2791215" cy="1657581"/>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r>
              <a:rPr lang="en-US" dirty="0"/>
              <a:t>The Automated Expense Splitting and Sharing project simplifies group expense management.</a:t>
            </a:r>
          </a:p>
          <a:p>
            <a:r>
              <a:rPr lang="en-US" dirty="0"/>
              <a:t>It helps users split bills accurately and quickly.</a:t>
            </a:r>
          </a:p>
          <a:p>
            <a:r>
              <a:rPr lang="en-US" dirty="0"/>
              <a:t>The project reduces manual calculation errors and improves transparency among users.</a:t>
            </a:r>
          </a:p>
          <a:p>
            <a:r>
              <a:rPr lang="en-US" dirty="0"/>
              <a:t>It is useful for friends, roommates, travel groups, and event organizers.</a:t>
            </a:r>
          </a:p>
          <a:p>
            <a:r>
              <a:rPr lang="en-US" dirty="0"/>
              <a:t>Through this project, we learned web development concepts, expense calculation logic, and user interface design.</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85891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3" name="Content Placeholder 2">
            <a:extLst>
              <a:ext uri="{FF2B5EF4-FFF2-40B4-BE49-F238E27FC236}">
                <a16:creationId xmlns:a16="http://schemas.microsoft.com/office/drawing/2014/main" id="{81383DFD-4145-46B6-BA5B-4C9D68B54059}"/>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357471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4281</TotalTime>
  <Words>1058</Words>
  <Application>Microsoft Office PowerPoint</Application>
  <PresentationFormat>Widescreen</PresentationFormat>
  <Paragraphs>161</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Google Sans</vt:lpstr>
      <vt:lpstr>Office Theme</vt:lpstr>
      <vt:lpstr>Custom Design</vt:lpstr>
      <vt:lpstr>INSTRUCTIONS</vt:lpstr>
      <vt:lpstr>Title: Automated expense splitting and sharing</vt:lpstr>
      <vt:lpstr>OUTLINE</vt:lpstr>
      <vt:lpstr>Abstract</vt:lpstr>
      <vt:lpstr>Existing System </vt:lpstr>
      <vt:lpstr>Proposed System</vt:lpstr>
      <vt:lpstr>System Architecture</vt:lpstr>
      <vt:lpstr>Project Modules</vt:lpstr>
      <vt:lpstr>Objectives</vt:lpstr>
      <vt:lpstr>Co’s Attainments - DSA</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bikkina sirimanasa</cp:lastModifiedBy>
  <cp:revision>52</cp:revision>
  <dcterms:created xsi:type="dcterms:W3CDTF">2022-05-20T10:20:31Z</dcterms:created>
  <dcterms:modified xsi:type="dcterms:W3CDTF">2026-03-12T05:45:23Z</dcterms:modified>
</cp:coreProperties>
</file>